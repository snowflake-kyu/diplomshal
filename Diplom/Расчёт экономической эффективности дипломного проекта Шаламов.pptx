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9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0F28FA-A0FF-4778-BEE4-D616BFD88B8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0F28FA-A0FF-4778-BEE4-D616BFD88B8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3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Расчёт</a:t>
            </a:r>
            <a:r>
              <a:rPr lang="en-US" altLang="ru-RU"/>
              <a:t> </a:t>
            </a:r>
            <a:r>
              <a:rPr lang="en-US" altLang="en-US"/>
              <a:t>экономической</a:t>
            </a:r>
            <a:r>
              <a:rPr lang="en-US" altLang="ru-RU"/>
              <a:t> </a:t>
            </a:r>
            <a:r>
              <a:rPr lang="en-US" altLang="en-US"/>
              <a:t>эффективности</a:t>
            </a:r>
            <a:r>
              <a:rPr lang="en-US" altLang="ru-RU"/>
              <a:t> </a:t>
            </a:r>
            <a:r>
              <a:rPr lang="en-US" altLang="en-US"/>
              <a:t>дипломного</a:t>
            </a:r>
            <a:r>
              <a:rPr lang="en-US" altLang="ru-RU"/>
              <a:t> </a:t>
            </a:r>
            <a:r>
              <a:rPr lang="en-US" altLang="en-US"/>
              <a:t>проекта</a:t>
            </a:r>
            <a:endParaRPr lang="en-US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2400"/>
              <a:t>Автоматизированная</a:t>
            </a:r>
            <a:r>
              <a:rPr lang="en-US" altLang="ru-RU" sz="2400"/>
              <a:t> </a:t>
            </a:r>
            <a:r>
              <a:rPr lang="en-US" altLang="en-US" sz="2400"/>
              <a:t>система</a:t>
            </a:r>
            <a:r>
              <a:rPr lang="en-US" altLang="ru-RU" sz="2400"/>
              <a:t> </a:t>
            </a:r>
            <a:r>
              <a:rPr lang="en-US" altLang="en-US" sz="2400"/>
              <a:t>управления</a:t>
            </a:r>
            <a:r>
              <a:rPr lang="en-US" altLang="ru-RU" sz="2400"/>
              <a:t> </a:t>
            </a:r>
            <a:r>
              <a:rPr lang="en-US" altLang="en-US" sz="2400"/>
              <a:t>информационными</a:t>
            </a:r>
            <a:r>
              <a:rPr lang="en-US" altLang="ru-RU" sz="2400"/>
              <a:t> </a:t>
            </a:r>
            <a:r>
              <a:rPr lang="en-US" altLang="en-US" sz="2400"/>
              <a:t>киосками</a:t>
            </a:r>
            <a:r>
              <a:rPr lang="en-US" altLang="ru-RU" sz="2400"/>
              <a:t> (</a:t>
            </a:r>
            <a:r>
              <a:rPr lang="en-US" altLang="en-US" sz="2400"/>
              <a:t>инфоматами</a:t>
            </a:r>
            <a:r>
              <a:rPr lang="en-US" altLang="ru-RU" sz="2400"/>
              <a:t>) </a:t>
            </a:r>
            <a:r>
              <a:rPr lang="en-US" altLang="en-US" sz="2400"/>
              <a:t>для</a:t>
            </a:r>
            <a:r>
              <a:rPr lang="en-US" altLang="ru-RU" sz="2400"/>
              <a:t> </a:t>
            </a:r>
            <a:r>
              <a:rPr lang="en-US" altLang="en-US" sz="2400"/>
              <a:t>МАОУ</a:t>
            </a:r>
            <a:r>
              <a:rPr lang="en-US" altLang="ru-RU" sz="2400"/>
              <a:t> </a:t>
            </a:r>
            <a:r>
              <a:rPr lang="en-US" altLang="en-US" sz="2400"/>
              <a:t>«</a:t>
            </a:r>
            <a:r>
              <a:rPr lang="en-US" altLang="en-US" sz="2400"/>
              <a:t>Ильинская</a:t>
            </a:r>
            <a:r>
              <a:rPr lang="en-US" altLang="ru-RU" sz="2400"/>
              <a:t> </a:t>
            </a:r>
            <a:r>
              <a:rPr lang="en-US" altLang="en-US" sz="2400"/>
              <a:t>СОШ</a:t>
            </a:r>
            <a:r>
              <a:rPr lang="en-US" altLang="en-US" sz="2400"/>
              <a:t>»</a:t>
            </a:r>
            <a:endParaRPr lang="en-US" altLang="en-US" sz="2400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41605" y="557466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Студент</a:t>
            </a:r>
            <a:r>
              <a:rPr lang="en-US" altLang="ru-RU"/>
              <a:t>: </a:t>
            </a:r>
            <a:r>
              <a:rPr lang="ru-RU" altLang="en-US"/>
              <a:t>Шаламов Сергей Андреевич</a:t>
            </a:r>
            <a:endParaRPr lang="en-US" altLang="ru-RU"/>
          </a:p>
          <a:p>
            <a:r>
              <a:rPr lang="en-US" altLang="en-US"/>
              <a:t>Группа</a:t>
            </a:r>
            <a:r>
              <a:rPr lang="en-US" altLang="ru-RU"/>
              <a:t>: </a:t>
            </a:r>
            <a:r>
              <a:rPr lang="ru-RU" altLang="en-US"/>
              <a:t>4П</a:t>
            </a:r>
            <a:endParaRPr lang="en-US" altLang="ru-RU"/>
          </a:p>
          <a:p>
            <a:r>
              <a:rPr lang="en-US" altLang="en-US"/>
              <a:t>Год</a:t>
            </a:r>
            <a:r>
              <a:rPr lang="en-US" altLang="ru-RU"/>
              <a:t>: 2026</a:t>
            </a:r>
            <a:endParaRPr lang="en-US" alt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О</a:t>
            </a:r>
            <a:r>
              <a:rPr lang="en-US" altLang="ru-RU"/>
              <a:t> </a:t>
            </a:r>
            <a:r>
              <a:rPr lang="en-US" altLang="en-US"/>
              <a:t>проекте</a:t>
            </a:r>
            <a:endParaRPr lang="en-US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>
                <a:sym typeface="+mn-ea"/>
              </a:rPr>
              <a:t>Цель</a:t>
            </a:r>
            <a:r>
              <a:rPr lang="en-US" altLang="ru-RU" sz="2400">
                <a:sym typeface="+mn-ea"/>
              </a:rPr>
              <a:t> — </a:t>
            </a:r>
            <a:r>
              <a:rPr lang="en-US" altLang="en-US" sz="2400">
                <a:sym typeface="+mn-ea"/>
              </a:rPr>
              <a:t>сократить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рутинную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нагрузку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на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персонал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и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повысить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доступность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информации</a:t>
            </a:r>
            <a:r>
              <a:rPr lang="en-US" altLang="ru-RU" sz="2400">
                <a:sym typeface="+mn-ea"/>
              </a:rPr>
              <a:t>.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Что</a:t>
            </a:r>
            <a:r>
              <a:rPr lang="en-US" altLang="ru-RU" sz="2400"/>
              <a:t> </a:t>
            </a:r>
            <a:r>
              <a:rPr lang="en-US" altLang="en-US" sz="2400"/>
              <a:t>разработано</a:t>
            </a:r>
            <a:r>
              <a:rPr lang="en-US" altLang="ru-RU" sz="2400"/>
              <a:t>?</a:t>
            </a:r>
            <a:endParaRPr lang="en-US" altLang="ru-RU" sz="2400"/>
          </a:p>
          <a:p>
            <a:r>
              <a:rPr lang="en-US" altLang="en-US" sz="2400"/>
              <a:t>Информационные</a:t>
            </a:r>
            <a:r>
              <a:rPr lang="en-US" altLang="ru-RU" sz="2400"/>
              <a:t> </a:t>
            </a:r>
            <a:r>
              <a:rPr lang="en-US" altLang="en-US" sz="2400"/>
              <a:t>киоски</a:t>
            </a:r>
            <a:r>
              <a:rPr lang="en-US" altLang="ru-RU" sz="2400"/>
              <a:t> (</a:t>
            </a:r>
            <a:r>
              <a:rPr lang="en-US" altLang="en-US" sz="2400"/>
              <a:t>инфоматы</a:t>
            </a:r>
            <a:r>
              <a:rPr lang="en-US" altLang="ru-RU" sz="2400"/>
              <a:t>) </a:t>
            </a:r>
            <a:r>
              <a:rPr lang="en-US" altLang="en-US" sz="2400"/>
              <a:t>в</a:t>
            </a:r>
            <a:r>
              <a:rPr lang="en-US" altLang="ru-RU" sz="2400"/>
              <a:t> </a:t>
            </a:r>
            <a:r>
              <a:rPr lang="en-US" altLang="en-US" sz="2400"/>
              <a:t>холле</a:t>
            </a:r>
            <a:r>
              <a:rPr lang="en-US" altLang="ru-RU" sz="2400"/>
              <a:t> </a:t>
            </a:r>
            <a:r>
              <a:rPr lang="en-US" altLang="en-US" sz="2400"/>
              <a:t>школы</a:t>
            </a:r>
            <a:endParaRPr lang="en-US" altLang="en-US" sz="2400"/>
          </a:p>
          <a:p>
            <a:r>
              <a:rPr lang="en-US" altLang="en-US" sz="2400"/>
              <a:t>Административная</a:t>
            </a:r>
            <a:r>
              <a:rPr lang="en-US" altLang="ru-RU" sz="2400"/>
              <a:t> </a:t>
            </a:r>
            <a:r>
              <a:rPr lang="en-US" altLang="en-US" sz="2400"/>
              <a:t>веб</a:t>
            </a:r>
            <a:r>
              <a:rPr lang="en-US" altLang="ru-RU" sz="2400"/>
              <a:t>-</a:t>
            </a:r>
            <a:r>
              <a:rPr lang="en-US" altLang="en-US" sz="2400"/>
              <a:t>панель</a:t>
            </a:r>
            <a:r>
              <a:rPr lang="en-US" altLang="ru-RU" sz="2400"/>
              <a:t> </a:t>
            </a:r>
            <a:r>
              <a:rPr lang="en-US" altLang="en-US" sz="2400"/>
              <a:t>для</a:t>
            </a:r>
            <a:r>
              <a:rPr lang="en-US" altLang="ru-RU" sz="2400"/>
              <a:t> </a:t>
            </a:r>
            <a:r>
              <a:rPr lang="en-US" altLang="en-US" sz="2400"/>
              <a:t>управления</a:t>
            </a:r>
            <a:r>
              <a:rPr lang="en-US" altLang="ru-RU" sz="2400"/>
              <a:t> </a:t>
            </a:r>
            <a:r>
              <a:rPr lang="en-US" altLang="en-US" sz="2400"/>
              <a:t>контентом</a:t>
            </a:r>
            <a:endParaRPr lang="en-US" altLang="ru-RU" sz="2400"/>
          </a:p>
          <a:p>
            <a:r>
              <a:rPr lang="en-US" altLang="en-US" sz="2400"/>
              <a:t>Централизованная</a:t>
            </a:r>
            <a:r>
              <a:rPr lang="en-US" altLang="ru-RU" sz="2400"/>
              <a:t> </a:t>
            </a:r>
            <a:r>
              <a:rPr lang="en-US" altLang="en-US" sz="2400"/>
              <a:t>база</a:t>
            </a:r>
            <a:r>
              <a:rPr lang="en-US" altLang="ru-RU" sz="2400"/>
              <a:t> </a:t>
            </a:r>
            <a:r>
              <a:rPr lang="en-US" altLang="en-US" sz="2400"/>
              <a:t>данных</a:t>
            </a:r>
            <a:r>
              <a:rPr lang="en-US" altLang="ru-RU" sz="2400"/>
              <a:t> (</a:t>
            </a:r>
            <a:r>
              <a:rPr lang="en-US" altLang="en-US" sz="2400"/>
              <a:t>расписание</a:t>
            </a:r>
            <a:r>
              <a:rPr lang="en-US" altLang="ru-RU" sz="2400"/>
              <a:t>, </a:t>
            </a:r>
            <a:r>
              <a:rPr lang="en-US" altLang="en-US" sz="2400"/>
              <a:t>объявления</a:t>
            </a:r>
            <a:r>
              <a:rPr lang="en-US" altLang="ru-RU" sz="2400"/>
              <a:t>, </a:t>
            </a:r>
            <a:r>
              <a:rPr lang="en-US" altLang="en-US" sz="2400"/>
              <a:t>навигация</a:t>
            </a:r>
            <a:r>
              <a:rPr lang="en-US" altLang="ru-RU" sz="2400"/>
              <a:t>, </a:t>
            </a:r>
            <a:r>
              <a:rPr lang="en-US" altLang="en-US" sz="2400"/>
              <a:t>мероприятия</a:t>
            </a:r>
            <a:r>
              <a:rPr lang="en-US" altLang="ru-RU" sz="2400"/>
              <a:t>)</a:t>
            </a:r>
            <a:endParaRPr lang="en-US" altLang="ru-RU" sz="2400"/>
          </a:p>
        </p:txBody>
      </p:sp>
      <p:pic>
        <p:nvPicPr>
          <p:cNvPr id="2" name="Замещающее содержимое 1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928360" y="1600200"/>
            <a:ext cx="5832475" cy="37261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Сравнение</a:t>
            </a:r>
            <a:r>
              <a:rPr lang="en-US" altLang="ru-RU"/>
              <a:t> </a:t>
            </a:r>
            <a:r>
              <a:rPr lang="en-US" altLang="en-US"/>
              <a:t>процессов</a:t>
            </a:r>
            <a:r>
              <a:rPr lang="en-US" altLang="ru-RU"/>
              <a:t> </a:t>
            </a:r>
            <a:r>
              <a:rPr lang="en-US" altLang="en-US"/>
              <a:t>информирования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altLang="en-US" sz="2400"/>
              <a:t>Система</a:t>
            </a:r>
            <a:r>
              <a:rPr lang="en-US" altLang="ru-RU" sz="2400"/>
              <a:t> </a:t>
            </a:r>
            <a:r>
              <a:rPr lang="en-US" altLang="en-US" sz="2400"/>
              <a:t>устраняет</a:t>
            </a:r>
            <a:r>
              <a:rPr lang="en-US" altLang="ru-RU" sz="2400"/>
              <a:t> </a:t>
            </a:r>
            <a:r>
              <a:rPr lang="en-US" altLang="en-US" sz="2400"/>
              <a:t>ручной</a:t>
            </a:r>
            <a:r>
              <a:rPr lang="en-US" altLang="ru-RU" sz="2400"/>
              <a:t> </a:t>
            </a:r>
            <a:r>
              <a:rPr lang="en-US" altLang="en-US" sz="2400"/>
              <a:t>труд</a:t>
            </a:r>
            <a:r>
              <a:rPr lang="en-US" altLang="ru-RU" sz="2400"/>
              <a:t> </a:t>
            </a:r>
            <a:r>
              <a:rPr lang="en-US" altLang="en-US" sz="2400"/>
              <a:t>и</a:t>
            </a:r>
            <a:r>
              <a:rPr lang="en-US" altLang="ru-RU" sz="2400"/>
              <a:t> </a:t>
            </a:r>
            <a:r>
              <a:rPr lang="en-US" altLang="en-US" sz="2400"/>
              <a:t>задержки</a:t>
            </a:r>
            <a:r>
              <a:rPr lang="en-US" altLang="ru-RU" sz="2400"/>
              <a:t> </a:t>
            </a:r>
            <a:r>
              <a:rPr lang="en-US" altLang="en-US" sz="2400"/>
              <a:t>в</a:t>
            </a:r>
            <a:r>
              <a:rPr lang="en-US" altLang="ru-RU" sz="2400"/>
              <a:t> </a:t>
            </a:r>
            <a:r>
              <a:rPr lang="en-US" altLang="en-US" sz="2400"/>
              <a:t>информировании</a:t>
            </a:r>
            <a:r>
              <a:rPr lang="en-US" altLang="ru-RU" sz="2400"/>
              <a:t>.</a:t>
            </a:r>
            <a:endParaRPr lang="en-US" altLang="ru-RU" sz="2400"/>
          </a:p>
        </p:txBody>
      </p:sp>
      <p:graphicFrame>
        <p:nvGraphicFramePr>
          <p:cNvPr id="5" name="Замещающее содержимое 4"/>
          <p:cNvGraphicFramePr/>
          <p:nvPr>
            <p:ph sz="half" idx="2"/>
          </p:nvPr>
        </p:nvGraphicFramePr>
        <p:xfrm>
          <a:off x="6197600" y="1600200"/>
          <a:ext cx="5384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/>
                <a:gridCol w="26924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Было</a:t>
                      </a:r>
                      <a:r>
                        <a:rPr lang="en-US" altLang="ru-RU"/>
                        <a:t> (</a:t>
                      </a:r>
                      <a:r>
                        <a:rPr lang="en-US" altLang="en-US"/>
                        <a:t>до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внедрения</a:t>
                      </a:r>
                      <a:r>
                        <a:rPr lang="en-US" altLang="ru-RU"/>
                        <a:t>)</a:t>
                      </a:r>
                      <a:endParaRPr lang="en-US" alt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Стало</a:t>
                      </a:r>
                      <a:r>
                        <a:rPr lang="en-US" altLang="ru-RU"/>
                        <a:t> (</a:t>
                      </a:r>
                      <a:r>
                        <a:rPr lang="en-US" altLang="en-US"/>
                        <a:t>с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системой</a:t>
                      </a:r>
                      <a:r>
                        <a:rPr lang="en-US" altLang="ru-RU"/>
                        <a:t>)</a:t>
                      </a:r>
                      <a:endParaRPr lang="en-US" altLang="ru-RU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Печать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и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расклейка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бумажных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объявлений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Публикация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за</a:t>
                      </a:r>
                      <a:r>
                        <a:rPr lang="en-US" altLang="ru-RU"/>
                        <a:t> 5 </a:t>
                      </a:r>
                      <a:r>
                        <a:rPr lang="en-US" altLang="en-US"/>
                        <a:t>минут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через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админ</a:t>
                      </a:r>
                      <a:r>
                        <a:rPr lang="en-US" altLang="ru-RU"/>
                        <a:t>-</a:t>
                      </a:r>
                      <a:r>
                        <a:rPr lang="en-US" altLang="en-US"/>
                        <a:t>панель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Устаревшая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информация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на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стендах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Автоматическое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обновление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на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всех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киосках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Учителя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отвечают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на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вопросы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«</a:t>
                      </a:r>
                      <a:r>
                        <a:rPr lang="en-US" altLang="en-US"/>
                        <a:t>где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кабинет</a:t>
                      </a:r>
                      <a:r>
                        <a:rPr lang="en-US" altLang="ru-RU"/>
                        <a:t>?</a:t>
                      </a:r>
                      <a:r>
                        <a:rPr lang="en-US" altLang="en-US"/>
                        <a:t>»</a:t>
                      </a:r>
                      <a:r>
                        <a:rPr lang="en-US" altLang="ru-RU"/>
                        <a:t>, </a:t>
                      </a:r>
                      <a:r>
                        <a:rPr lang="en-US" altLang="en-US"/>
                        <a:t>«</a:t>
                      </a:r>
                      <a:r>
                        <a:rPr lang="en-US" altLang="en-US"/>
                        <a:t>какое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расписание</a:t>
                      </a:r>
                      <a:r>
                        <a:rPr lang="en-US" altLang="ru-RU"/>
                        <a:t>?</a:t>
                      </a:r>
                      <a:r>
                        <a:rPr lang="en-US" altLang="en-US"/>
                        <a:t>»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Ученики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и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родители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смотрят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в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киоске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сами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Завуч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вручную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меняет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расписание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на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стендах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Изменения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вносятся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централизованно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Расчёт</a:t>
            </a:r>
            <a:r>
              <a:rPr lang="en-US" altLang="ru-RU"/>
              <a:t> </a:t>
            </a:r>
            <a:r>
              <a:rPr lang="en-US" altLang="en-US"/>
              <a:t>капитальных</a:t>
            </a:r>
            <a:r>
              <a:rPr lang="en-US" altLang="ru-RU"/>
              <a:t> </a:t>
            </a:r>
            <a:r>
              <a:rPr lang="en-US" altLang="en-US"/>
              <a:t>затрат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altLang="en-US" sz="2400"/>
              <a:t>Программное</a:t>
            </a:r>
            <a:r>
              <a:rPr lang="en-US" altLang="ru-RU" sz="2400"/>
              <a:t> </a:t>
            </a:r>
            <a:r>
              <a:rPr lang="en-US" altLang="en-US" sz="2400"/>
              <a:t>обеспечение</a:t>
            </a:r>
            <a:r>
              <a:rPr lang="en-US" altLang="ru-RU" sz="2400"/>
              <a:t>: Visual Studio Community, SQL Server Express — </a:t>
            </a:r>
            <a:r>
              <a:rPr lang="en-US" altLang="en-US" sz="2400"/>
              <a:t>бесплатные</a:t>
            </a:r>
            <a:r>
              <a:rPr lang="en-US" altLang="ru-RU" sz="2400"/>
              <a:t> </a:t>
            </a:r>
            <a:r>
              <a:rPr lang="en-US" altLang="en-US" sz="2400"/>
              <a:t>лицензии</a:t>
            </a:r>
            <a:r>
              <a:rPr lang="en-US" altLang="ru-RU" sz="2400"/>
              <a:t>.</a:t>
            </a:r>
            <a:endParaRPr lang="en-US" altLang="ru-RU" sz="2400"/>
          </a:p>
          <a:p>
            <a:r>
              <a:rPr lang="en-US" altLang="en-US" sz="2400"/>
              <a:t>Технические</a:t>
            </a:r>
            <a:r>
              <a:rPr lang="en-US" altLang="ru-RU" sz="2400"/>
              <a:t> </a:t>
            </a:r>
            <a:r>
              <a:rPr lang="en-US" altLang="en-US" sz="2400"/>
              <a:t>средства</a:t>
            </a:r>
            <a:r>
              <a:rPr lang="en-US" altLang="ru-RU" sz="2400"/>
              <a:t> (</a:t>
            </a:r>
            <a:r>
              <a:rPr lang="en-US" altLang="en-US" sz="2400"/>
              <a:t>сам</a:t>
            </a:r>
            <a:r>
              <a:rPr lang="en-US" altLang="ru-RU" sz="2400"/>
              <a:t> </a:t>
            </a:r>
            <a:r>
              <a:rPr lang="en-US" altLang="en-US" sz="2400"/>
              <a:t>киоск</a:t>
            </a:r>
            <a:r>
              <a:rPr lang="en-US" altLang="ru-RU" sz="2400"/>
              <a:t>) </a:t>
            </a:r>
            <a:r>
              <a:rPr lang="en-US" altLang="en-US" sz="2400"/>
              <a:t>не</a:t>
            </a:r>
            <a:r>
              <a:rPr lang="en-US" altLang="ru-RU" sz="2400"/>
              <a:t> </a:t>
            </a:r>
            <a:r>
              <a:rPr lang="en-US" altLang="en-US" sz="2400"/>
              <a:t>приобретались</a:t>
            </a:r>
            <a:r>
              <a:rPr lang="en-US" altLang="ru-RU" sz="2400"/>
              <a:t> — </a:t>
            </a:r>
            <a:r>
              <a:rPr lang="en-US" altLang="en-US" sz="2400"/>
              <a:t>используется</a:t>
            </a:r>
            <a:r>
              <a:rPr lang="en-US" altLang="ru-RU" sz="2400"/>
              <a:t> </a:t>
            </a:r>
            <a:r>
              <a:rPr lang="en-US" altLang="en-US" sz="2400"/>
              <a:t>существующее</a:t>
            </a:r>
            <a:r>
              <a:rPr lang="en-US" altLang="ru-RU" sz="2400"/>
              <a:t> </a:t>
            </a:r>
            <a:r>
              <a:rPr lang="en-US" altLang="en-US" sz="2400"/>
              <a:t>оборудование</a:t>
            </a:r>
            <a:r>
              <a:rPr lang="en-US" altLang="ru-RU" sz="2400"/>
              <a:t> </a:t>
            </a:r>
            <a:r>
              <a:rPr lang="en-US" altLang="en-US" sz="2400"/>
              <a:t>школы</a:t>
            </a:r>
            <a:r>
              <a:rPr lang="en-US" altLang="ru-RU" sz="2400"/>
              <a:t> </a:t>
            </a:r>
            <a:r>
              <a:rPr lang="en-US" altLang="en-US" sz="2400"/>
              <a:t>либо</a:t>
            </a:r>
            <a:r>
              <a:rPr lang="en-US" altLang="ru-RU" sz="2400"/>
              <a:t> </a:t>
            </a:r>
            <a:r>
              <a:rPr lang="en-US" altLang="en-US" sz="2400"/>
              <a:t>закупается</a:t>
            </a:r>
            <a:r>
              <a:rPr lang="en-US" altLang="ru-RU" sz="2400"/>
              <a:t> </a:t>
            </a:r>
            <a:r>
              <a:rPr lang="en-US" altLang="en-US" sz="2400"/>
              <a:t>отдельно</a:t>
            </a:r>
            <a:r>
              <a:rPr lang="en-US" altLang="ru-RU" sz="2400"/>
              <a:t>.</a:t>
            </a:r>
            <a:endParaRPr lang="en-US" altLang="ru-RU" sz="2400"/>
          </a:p>
        </p:txBody>
      </p:sp>
      <p:graphicFrame>
        <p:nvGraphicFramePr>
          <p:cNvPr id="6" name="Замещающее содержимое 5"/>
          <p:cNvGraphicFramePr/>
          <p:nvPr>
            <p:ph sz="half" idx="2"/>
          </p:nvPr>
        </p:nvGraphicFramePr>
        <p:xfrm>
          <a:off x="6197600" y="1600200"/>
          <a:ext cx="5384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/>
                <a:gridCol w="26924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Статья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затрат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Сумма</a:t>
                      </a:r>
                      <a:r>
                        <a:rPr lang="en-US" altLang="ru-RU"/>
                        <a:t> (</a:t>
                      </a:r>
                      <a:r>
                        <a:rPr lang="en-US" altLang="en-US"/>
                        <a:t>руб</a:t>
                      </a:r>
                      <a:r>
                        <a:rPr lang="en-US" altLang="ru-RU"/>
                        <a:t>.)</a:t>
                      </a:r>
                      <a:endParaRPr lang="en-US" altLang="ru-RU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Труд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проектировщика</a:t>
                      </a:r>
                      <a:r>
                        <a:rPr lang="en-US" altLang="ru-RU"/>
                        <a:t> (150 </a:t>
                      </a:r>
                      <a:r>
                        <a:rPr lang="en-US" altLang="en-US"/>
                        <a:t>ч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×</a:t>
                      </a:r>
                      <a:r>
                        <a:rPr lang="en-US" altLang="ru-RU"/>
                        <a:t> 300 </a:t>
                      </a:r>
                      <a:r>
                        <a:rPr lang="en-US" altLang="en-US"/>
                        <a:t>руб</a:t>
                      </a:r>
                      <a:r>
                        <a:rPr lang="en-US" altLang="ru-RU"/>
                        <a:t>./</a:t>
                      </a:r>
                      <a:r>
                        <a:rPr lang="en-US" altLang="en-US"/>
                        <a:t>ч</a:t>
                      </a:r>
                      <a:r>
                        <a:rPr lang="en-US" altLang="ru-RU"/>
                        <a:t>)</a:t>
                      </a:r>
                      <a:endParaRPr lang="en-US" alt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45 000</a:t>
                      </a:r>
                      <a:endParaRPr lang="ru-RU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Амортизация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компьютера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3 750</a:t>
                      </a:r>
                      <a:endParaRPr lang="ru-RU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Электроэнергия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270</a:t>
                      </a:r>
                      <a:endParaRPr lang="ru-RU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Прочие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расходы</a:t>
                      </a:r>
                      <a:r>
                        <a:rPr lang="en-US" altLang="ru-RU"/>
                        <a:t> (</a:t>
                      </a:r>
                      <a:r>
                        <a:rPr lang="en-US" altLang="en-US"/>
                        <a:t>интернет</a:t>
                      </a:r>
                      <a:r>
                        <a:rPr lang="en-US" altLang="ru-RU"/>
                        <a:t>, </a:t>
                      </a:r>
                      <a:r>
                        <a:rPr lang="en-US" altLang="en-US"/>
                        <a:t>канцтовары</a:t>
                      </a:r>
                      <a:r>
                        <a:rPr lang="en-US" altLang="ru-RU"/>
                        <a:t>)</a:t>
                      </a:r>
                      <a:endParaRPr lang="en-US" alt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1 000</a:t>
                      </a:r>
                      <a:endParaRPr lang="ru-RU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ИТОГО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50 020</a:t>
                      </a:r>
                      <a:endParaRPr lang="ru-RU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Расчёт</a:t>
            </a:r>
            <a:r>
              <a:rPr lang="en-US" altLang="ru-RU"/>
              <a:t> </a:t>
            </a:r>
            <a:r>
              <a:rPr lang="en-US" altLang="en-US"/>
              <a:t>ежемесячной</a:t>
            </a:r>
            <a:r>
              <a:rPr lang="en-US" altLang="ru-RU"/>
              <a:t> </a:t>
            </a:r>
            <a:r>
              <a:rPr lang="en-US" altLang="en-US"/>
              <a:t>экономии</a:t>
            </a:r>
            <a:r>
              <a:rPr lang="en-US" altLang="ru-RU"/>
              <a:t> </a:t>
            </a:r>
            <a:r>
              <a:rPr lang="en-US" altLang="en-US"/>
              <a:t>рабочего</a:t>
            </a:r>
            <a:r>
              <a:rPr lang="en-US" altLang="ru-RU"/>
              <a:t> </a:t>
            </a:r>
            <a:r>
              <a:rPr lang="en-US" altLang="en-US"/>
              <a:t>времени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394200" cy="4526280"/>
          </a:xfrm>
        </p:spPr>
        <p:txBody>
          <a:bodyPr/>
          <a:p>
            <a:r>
              <a:rPr lang="en-US" altLang="en-US" sz="2400"/>
              <a:t>В</a:t>
            </a:r>
            <a:r>
              <a:rPr lang="en-US" altLang="ru-RU" sz="2400"/>
              <a:t> </a:t>
            </a:r>
            <a:r>
              <a:rPr lang="en-US" altLang="en-US" sz="2400"/>
              <a:t>расчёте</a:t>
            </a:r>
            <a:r>
              <a:rPr lang="en-US" altLang="ru-RU" sz="2400"/>
              <a:t> </a:t>
            </a:r>
            <a:r>
              <a:rPr lang="en-US" altLang="en-US" sz="2400"/>
              <a:t>учтено</a:t>
            </a:r>
            <a:r>
              <a:rPr lang="en-US" altLang="ru-RU" sz="2400"/>
              <a:t> </a:t>
            </a:r>
            <a:r>
              <a:rPr lang="en-US" altLang="en-US" sz="2400"/>
              <a:t>реальное</a:t>
            </a:r>
            <a:r>
              <a:rPr lang="en-US" altLang="ru-RU" sz="2400"/>
              <a:t> </a:t>
            </a:r>
            <a:r>
              <a:rPr lang="en-US" altLang="en-US" sz="2400"/>
              <a:t>время</a:t>
            </a:r>
            <a:r>
              <a:rPr lang="en-US" altLang="ru-RU" sz="2400"/>
              <a:t>, </a:t>
            </a:r>
            <a:r>
              <a:rPr lang="en-US" altLang="en-US" sz="2400"/>
              <a:t>которое</a:t>
            </a:r>
            <a:r>
              <a:rPr lang="en-US" altLang="ru-RU" sz="2400"/>
              <a:t> </a:t>
            </a:r>
            <a:r>
              <a:rPr lang="en-US" altLang="en-US" sz="2400"/>
              <a:t>сотрудники</a:t>
            </a:r>
            <a:r>
              <a:rPr lang="en-US" altLang="ru-RU" sz="2400"/>
              <a:t> </a:t>
            </a:r>
            <a:r>
              <a:rPr lang="en-US" altLang="en-US" sz="2400"/>
              <a:t>тратили</a:t>
            </a:r>
            <a:r>
              <a:rPr lang="en-US" altLang="ru-RU" sz="2400"/>
              <a:t> </a:t>
            </a:r>
            <a:r>
              <a:rPr lang="en-US" altLang="en-US" sz="2400"/>
              <a:t>на</a:t>
            </a:r>
            <a:r>
              <a:rPr lang="en-US" altLang="ru-RU" sz="2400"/>
              <a:t> </a:t>
            </a:r>
            <a:r>
              <a:rPr lang="en-US" altLang="en-US" sz="2400"/>
              <a:t>ручное</a:t>
            </a:r>
            <a:r>
              <a:rPr lang="en-US" altLang="ru-RU" sz="2400"/>
              <a:t> </a:t>
            </a:r>
            <a:r>
              <a:rPr lang="en-US" altLang="en-US" sz="2400"/>
              <a:t>обновление</a:t>
            </a:r>
            <a:r>
              <a:rPr lang="en-US" altLang="ru-RU" sz="2400"/>
              <a:t> </a:t>
            </a:r>
            <a:r>
              <a:rPr lang="en-US" altLang="en-US" sz="2400"/>
              <a:t>информации</a:t>
            </a:r>
            <a:r>
              <a:rPr lang="en-US" altLang="ru-RU" sz="2400"/>
              <a:t> </a:t>
            </a:r>
            <a:r>
              <a:rPr lang="en-US" altLang="en-US" sz="2400"/>
              <a:t>и</a:t>
            </a:r>
            <a:r>
              <a:rPr lang="en-US" altLang="ru-RU" sz="2400"/>
              <a:t> </a:t>
            </a:r>
            <a:r>
              <a:rPr lang="en-US" altLang="en-US" sz="2400"/>
              <a:t>ответы</a:t>
            </a:r>
            <a:r>
              <a:rPr lang="en-US" altLang="ru-RU" sz="2400"/>
              <a:t> </a:t>
            </a:r>
            <a:r>
              <a:rPr lang="en-US" altLang="en-US" sz="2400"/>
              <a:t>на</a:t>
            </a:r>
            <a:r>
              <a:rPr lang="en-US" altLang="ru-RU" sz="2400"/>
              <a:t> </a:t>
            </a:r>
            <a:r>
              <a:rPr lang="en-US" altLang="en-US" sz="2400"/>
              <a:t>повторяющиеся</a:t>
            </a:r>
            <a:r>
              <a:rPr lang="en-US" altLang="ru-RU" sz="2400"/>
              <a:t> </a:t>
            </a:r>
            <a:r>
              <a:rPr lang="en-US" altLang="en-US" sz="2400"/>
              <a:t>вопросы</a:t>
            </a:r>
            <a:r>
              <a:rPr lang="en-US" altLang="ru-RU" sz="2400"/>
              <a:t>.</a:t>
            </a:r>
            <a:endParaRPr lang="en-US" altLang="ru-RU" sz="2400"/>
          </a:p>
        </p:txBody>
      </p:sp>
      <p:graphicFrame>
        <p:nvGraphicFramePr>
          <p:cNvPr id="5" name="Замещающее содержимое 4"/>
          <p:cNvGraphicFramePr/>
          <p:nvPr>
            <p:ph sz="half" idx="2"/>
            <p:custDataLst>
              <p:tags r:id="rId1"/>
            </p:custDataLst>
          </p:nvPr>
        </p:nvGraphicFramePr>
        <p:xfrm>
          <a:off x="5243195" y="1600200"/>
          <a:ext cx="6339205" cy="2953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2002790"/>
                <a:gridCol w="1115060"/>
                <a:gridCol w="1377315"/>
              </a:tblGrid>
              <a:tr h="1301115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Сотрудник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Экономия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времени</a:t>
                      </a:r>
                      <a:r>
                        <a:rPr lang="en-US" altLang="ru-RU"/>
                        <a:t> (</a:t>
                      </a:r>
                      <a:r>
                        <a:rPr lang="en-US" altLang="en-US"/>
                        <a:t>часов</a:t>
                      </a:r>
                      <a:r>
                        <a:rPr lang="en-US" altLang="ru-RU"/>
                        <a:t>/</a:t>
                      </a:r>
                      <a:r>
                        <a:rPr lang="en-US" altLang="en-US"/>
                        <a:t>мес</a:t>
                      </a:r>
                      <a:r>
                        <a:rPr lang="en-US" altLang="ru-RU"/>
                        <a:t>)</a:t>
                      </a:r>
                      <a:endParaRPr lang="en-US" alt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Ставка</a:t>
                      </a:r>
                      <a:r>
                        <a:rPr lang="en-US" altLang="ru-RU"/>
                        <a:t> (</a:t>
                      </a:r>
                      <a:r>
                        <a:rPr lang="en-US" altLang="en-US"/>
                        <a:t>руб</a:t>
                      </a:r>
                      <a:r>
                        <a:rPr lang="en-US" altLang="ru-RU"/>
                        <a:t>./</a:t>
                      </a:r>
                      <a:r>
                        <a:rPr lang="en-US" altLang="en-US"/>
                        <a:t>ч</a:t>
                      </a:r>
                      <a:r>
                        <a:rPr lang="en-US" altLang="ru-RU"/>
                        <a:t>)</a:t>
                      </a:r>
                      <a:endParaRPr lang="en-US" alt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Экономия</a:t>
                      </a:r>
                      <a:r>
                        <a:rPr lang="en-US" altLang="ru-RU"/>
                        <a:t> (</a:t>
                      </a:r>
                      <a:r>
                        <a:rPr lang="en-US" altLang="en-US"/>
                        <a:t>руб</a:t>
                      </a:r>
                      <a:r>
                        <a:rPr lang="en-US" altLang="ru-RU"/>
                        <a:t>./</a:t>
                      </a:r>
                      <a:r>
                        <a:rPr lang="en-US" altLang="en-US"/>
                        <a:t>мес</a:t>
                      </a:r>
                      <a:r>
                        <a:rPr lang="en-US" altLang="ru-RU"/>
                        <a:t>)</a:t>
                      </a:r>
                      <a:endParaRPr lang="en-US" altLang="ru-RU"/>
                    </a:p>
                  </a:txBody>
                  <a:tcPr/>
                </a:tc>
              </a:tr>
              <a:tr h="41275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Администратор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7.3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250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1 825</a:t>
                      </a:r>
                      <a:endParaRPr lang="ru-RU" altLang="en-US"/>
                    </a:p>
                  </a:txBody>
                  <a:tcPr/>
                </a:tc>
              </a:tr>
              <a:tr h="413385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Учителя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16.7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350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5 845</a:t>
                      </a:r>
                      <a:endParaRPr lang="ru-RU" altLang="en-US"/>
                    </a:p>
                  </a:txBody>
                  <a:tcPr/>
                </a:tc>
              </a:tr>
              <a:tr h="413385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Завуч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3.7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400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1 480</a:t>
                      </a:r>
                      <a:endParaRPr lang="ru-RU" altLang="en-US"/>
                    </a:p>
                  </a:txBody>
                  <a:tcPr/>
                </a:tc>
              </a:tr>
              <a:tr h="41275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ИТОГО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27.7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-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9 150</a:t>
                      </a:r>
                      <a:endParaRPr lang="ru-RU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Срок</a:t>
            </a:r>
            <a:r>
              <a:rPr lang="en-US" altLang="ru-RU"/>
              <a:t> </a:t>
            </a:r>
            <a:r>
              <a:rPr lang="en-US" altLang="en-US"/>
              <a:t>окупаемости</a:t>
            </a:r>
            <a:r>
              <a:rPr lang="en-US" altLang="ru-RU"/>
              <a:t> </a:t>
            </a:r>
            <a:r>
              <a:rPr lang="en-US" altLang="en-US"/>
              <a:t>проекта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/>
              <a:t>Формула</a:t>
            </a:r>
            <a:endParaRPr lang="en-US" altLang="en-US" sz="2400"/>
          </a:p>
          <a:p>
            <a:r>
              <a:rPr lang="en-US" altLang="en-US" sz="2400"/>
              <a:t>Срок</a:t>
            </a:r>
            <a:r>
              <a:rPr lang="en-US" altLang="ru-RU" sz="2400"/>
              <a:t> </a:t>
            </a:r>
            <a:r>
              <a:rPr lang="en-US" altLang="en-US" sz="2400"/>
              <a:t>окупаемости</a:t>
            </a:r>
            <a:r>
              <a:rPr lang="en-US" altLang="ru-RU" sz="2400"/>
              <a:t> = </a:t>
            </a:r>
            <a:r>
              <a:rPr lang="en-US" altLang="en-US" sz="2400"/>
              <a:t>Затраты</a:t>
            </a:r>
            <a:r>
              <a:rPr lang="en-US" altLang="ru-RU" sz="2400"/>
              <a:t> </a:t>
            </a:r>
            <a:r>
              <a:rPr lang="en-US" altLang="en-US" sz="2400"/>
              <a:t>÷</a:t>
            </a:r>
            <a:r>
              <a:rPr lang="en-US" altLang="ru-RU" sz="2400"/>
              <a:t> </a:t>
            </a:r>
            <a:r>
              <a:rPr lang="en-US" altLang="en-US" sz="2400"/>
              <a:t>Экономия</a:t>
            </a:r>
            <a:r>
              <a:rPr lang="en-US" altLang="ru-RU" sz="2400"/>
              <a:t> </a:t>
            </a:r>
            <a:r>
              <a:rPr lang="en-US" altLang="en-US" sz="2400"/>
              <a:t>в</a:t>
            </a:r>
            <a:r>
              <a:rPr lang="en-US" altLang="ru-RU" sz="2400"/>
              <a:t> </a:t>
            </a:r>
            <a:r>
              <a:rPr lang="en-US" altLang="en-US" sz="2400"/>
              <a:t>месяц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ru-RU" altLang="en-US" sz="2400"/>
              <a:t>Расчет</a:t>
            </a:r>
            <a:endParaRPr lang="ru-RU" altLang="en-US" sz="2400"/>
          </a:p>
          <a:p>
            <a:r>
              <a:rPr lang="en-US" altLang="ru-RU" sz="2400"/>
              <a:t>50 020 </a:t>
            </a:r>
            <a:r>
              <a:rPr lang="en-US" altLang="en-US" sz="2400"/>
              <a:t>руб</a:t>
            </a:r>
            <a:r>
              <a:rPr lang="en-US" altLang="ru-RU" sz="2400"/>
              <a:t>. </a:t>
            </a:r>
            <a:r>
              <a:rPr lang="en-US" altLang="en-US" sz="2400"/>
              <a:t>÷</a:t>
            </a:r>
            <a:r>
              <a:rPr lang="en-US" altLang="ru-RU" sz="2400"/>
              <a:t> 9 150 </a:t>
            </a:r>
            <a:r>
              <a:rPr lang="en-US" altLang="en-US" sz="2400"/>
              <a:t>руб</a:t>
            </a:r>
            <a:r>
              <a:rPr lang="en-US" altLang="ru-RU" sz="2400"/>
              <a:t>./</a:t>
            </a:r>
            <a:r>
              <a:rPr lang="en-US" altLang="en-US" sz="2400"/>
              <a:t>мес</a:t>
            </a:r>
            <a:r>
              <a:rPr lang="en-US" altLang="ru-RU" sz="2400"/>
              <a:t>. ≈ 5,5 </a:t>
            </a:r>
            <a:r>
              <a:rPr lang="en-US" altLang="en-US" sz="2400"/>
              <a:t>месяцев</a:t>
            </a:r>
            <a:endParaRPr lang="en-US" altLang="en-US" sz="2400"/>
          </a:p>
        </p:txBody>
      </p:sp>
      <p:pic>
        <p:nvPicPr>
          <p:cNvPr id="9" name="Замещающее содержимое 8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207760" y="1600200"/>
            <a:ext cx="536321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Заключение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10972165" cy="4526280"/>
          </a:xfrm>
        </p:spPr>
        <p:txBody>
          <a:bodyPr/>
          <a:p>
            <a:r>
              <a:rPr lang="en-US" altLang="en-US" sz="2400"/>
              <a:t>Затраты</a:t>
            </a:r>
            <a:r>
              <a:rPr lang="en-US" altLang="ru-RU" sz="2400"/>
              <a:t> </a:t>
            </a:r>
            <a:r>
              <a:rPr lang="en-US" altLang="en-US" sz="2400"/>
              <a:t>на</a:t>
            </a:r>
            <a:r>
              <a:rPr lang="en-US" altLang="ru-RU" sz="2400"/>
              <a:t> </a:t>
            </a:r>
            <a:r>
              <a:rPr lang="en-US" altLang="en-US" sz="2400"/>
              <a:t>разработку</a:t>
            </a:r>
            <a:r>
              <a:rPr lang="en-US" altLang="ru-RU" sz="2400"/>
              <a:t> — 50 020 </a:t>
            </a:r>
            <a:r>
              <a:rPr lang="en-US" altLang="en-US" sz="2400"/>
              <a:t>руб</a:t>
            </a:r>
            <a:r>
              <a:rPr lang="en-US" altLang="ru-RU" sz="2400"/>
              <a:t>. (</a:t>
            </a:r>
            <a:r>
              <a:rPr lang="en-US" altLang="en-US" sz="2400"/>
              <a:t>разовые</a:t>
            </a:r>
            <a:r>
              <a:rPr lang="en-US" altLang="ru-RU" sz="2400"/>
              <a:t>)</a:t>
            </a:r>
            <a:endParaRPr lang="en-US" altLang="ru-RU" sz="2400"/>
          </a:p>
          <a:p>
            <a:r>
              <a:rPr lang="en-US" altLang="en-US" sz="2400"/>
              <a:t>Ежемесячная</a:t>
            </a:r>
            <a:r>
              <a:rPr lang="en-US" altLang="ru-RU" sz="2400"/>
              <a:t> </a:t>
            </a:r>
            <a:r>
              <a:rPr lang="en-US" altLang="en-US" sz="2400"/>
              <a:t>экономия</a:t>
            </a:r>
            <a:r>
              <a:rPr lang="en-US" altLang="ru-RU" sz="2400"/>
              <a:t> — 9 150 </a:t>
            </a:r>
            <a:r>
              <a:rPr lang="en-US" altLang="en-US" sz="2400"/>
              <a:t>руб</a:t>
            </a:r>
            <a:r>
              <a:rPr lang="en-US" altLang="ru-RU" sz="2400"/>
              <a:t>.</a:t>
            </a:r>
            <a:endParaRPr lang="en-US" altLang="ru-RU" sz="2400"/>
          </a:p>
          <a:p>
            <a:r>
              <a:rPr lang="en-US" altLang="en-US" sz="2400"/>
              <a:t>Срок</a:t>
            </a:r>
            <a:r>
              <a:rPr lang="en-US" altLang="ru-RU" sz="2400"/>
              <a:t> </a:t>
            </a:r>
            <a:r>
              <a:rPr lang="en-US" altLang="en-US" sz="2400"/>
              <a:t>окупаемости</a:t>
            </a:r>
            <a:r>
              <a:rPr lang="en-US" altLang="ru-RU" sz="2400"/>
              <a:t> — 5,5 </a:t>
            </a:r>
            <a:r>
              <a:rPr lang="en-US" altLang="en-US" sz="2400"/>
              <a:t>месяцев</a:t>
            </a:r>
            <a:endParaRPr lang="en-US" altLang="ru-RU" sz="2400"/>
          </a:p>
          <a:p>
            <a:r>
              <a:rPr lang="en-US" altLang="en-US" sz="2400"/>
              <a:t>Проект</a:t>
            </a:r>
            <a:r>
              <a:rPr lang="en-US" altLang="ru-RU" sz="2400"/>
              <a:t> </a:t>
            </a:r>
            <a:r>
              <a:rPr lang="en-US" altLang="en-US" sz="2400"/>
              <a:t>экономически</a:t>
            </a:r>
            <a:r>
              <a:rPr lang="en-US" altLang="ru-RU" sz="2400"/>
              <a:t> </a:t>
            </a:r>
            <a:r>
              <a:rPr lang="en-US" altLang="en-US" sz="2400"/>
              <a:t>эффективен</a:t>
            </a:r>
            <a:r>
              <a:rPr lang="en-US" altLang="ru-RU" sz="2400"/>
              <a:t> </a:t>
            </a:r>
            <a:r>
              <a:rPr lang="en-US" altLang="en-US" sz="2400"/>
              <a:t>и</a:t>
            </a:r>
            <a:r>
              <a:rPr lang="en-US" altLang="ru-RU" sz="2400"/>
              <a:t> </a:t>
            </a:r>
            <a:r>
              <a:rPr lang="en-US" altLang="en-US" sz="2400"/>
              <a:t>рекомендуется</a:t>
            </a:r>
            <a:r>
              <a:rPr lang="en-US" altLang="ru-RU" sz="2400"/>
              <a:t> </a:t>
            </a:r>
            <a:r>
              <a:rPr lang="en-US" altLang="en-US" sz="2400"/>
              <a:t>к</a:t>
            </a:r>
            <a:r>
              <a:rPr lang="en-US" altLang="ru-RU" sz="2400"/>
              <a:t> </a:t>
            </a:r>
            <a:r>
              <a:rPr lang="en-US" altLang="en-US" sz="2400"/>
              <a:t>внедрению</a:t>
            </a:r>
            <a:endParaRPr lang="en-US" altLang="en-US" sz="2400"/>
          </a:p>
          <a:p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Социальный</a:t>
            </a:r>
            <a:r>
              <a:rPr lang="en-US" altLang="ru-RU" sz="2400"/>
              <a:t> </a:t>
            </a:r>
            <a:r>
              <a:rPr lang="en-US" altLang="en-US" sz="2400"/>
              <a:t>эффект</a:t>
            </a:r>
            <a:r>
              <a:rPr lang="en-US" altLang="ru-RU" sz="2400"/>
              <a:t>: </a:t>
            </a:r>
            <a:r>
              <a:rPr lang="en-US" altLang="en-US" sz="2400"/>
              <a:t>доступность</a:t>
            </a:r>
            <a:r>
              <a:rPr lang="en-US" altLang="ru-RU" sz="2400"/>
              <a:t> </a:t>
            </a:r>
            <a:r>
              <a:rPr lang="en-US" altLang="en-US" sz="2400"/>
              <a:t>информации</a:t>
            </a:r>
            <a:r>
              <a:rPr lang="en-US" altLang="ru-RU" sz="2400"/>
              <a:t> 24/7, </a:t>
            </a:r>
            <a:r>
              <a:rPr lang="en-US" altLang="en-US" sz="2400"/>
              <a:t>снижение</a:t>
            </a:r>
            <a:r>
              <a:rPr lang="en-US" altLang="ru-RU" sz="2400"/>
              <a:t> </a:t>
            </a:r>
            <a:r>
              <a:rPr lang="en-US" altLang="en-US" sz="2400"/>
              <a:t>нагрузки</a:t>
            </a:r>
            <a:r>
              <a:rPr lang="en-US" altLang="ru-RU" sz="2400"/>
              <a:t> </a:t>
            </a:r>
            <a:r>
              <a:rPr lang="en-US" altLang="en-US" sz="2400"/>
              <a:t>на</a:t>
            </a:r>
            <a:r>
              <a:rPr lang="en-US" altLang="ru-RU" sz="2400"/>
              <a:t> </a:t>
            </a:r>
            <a:r>
              <a:rPr lang="en-US" altLang="en-US" sz="2400"/>
              <a:t>учителей</a:t>
            </a:r>
            <a:r>
              <a:rPr lang="en-US" altLang="ru-RU" sz="2400"/>
              <a:t>, </a:t>
            </a:r>
            <a:r>
              <a:rPr lang="en-US" altLang="en-US" sz="2400"/>
              <a:t>соответствие</a:t>
            </a:r>
            <a:r>
              <a:rPr lang="en-US" altLang="ru-RU" sz="2400"/>
              <a:t> </a:t>
            </a:r>
            <a:r>
              <a:rPr lang="en-US" altLang="en-US" sz="2400"/>
              <a:t>требованиям</a:t>
            </a:r>
            <a:r>
              <a:rPr lang="en-US" altLang="ru-RU" sz="2400"/>
              <a:t> </a:t>
            </a:r>
            <a:r>
              <a:rPr lang="en-US" altLang="en-US" sz="2400"/>
              <a:t>ФЗ</a:t>
            </a:r>
            <a:r>
              <a:rPr lang="en-US" altLang="ru-RU" sz="2400"/>
              <a:t>-273 </a:t>
            </a:r>
            <a:r>
              <a:rPr lang="en-US" altLang="en-US" sz="2400"/>
              <a:t>«</a:t>
            </a:r>
            <a:r>
              <a:rPr lang="en-US" altLang="en-US" sz="2400"/>
              <a:t>Об</a:t>
            </a:r>
            <a:r>
              <a:rPr lang="en-US" altLang="ru-RU" sz="2400"/>
              <a:t> </a:t>
            </a:r>
            <a:r>
              <a:rPr lang="en-US" altLang="en-US" sz="2400"/>
              <a:t>образовании</a:t>
            </a:r>
            <a:r>
              <a:rPr lang="en-US" altLang="en-US" sz="2400"/>
              <a:t>»</a:t>
            </a:r>
            <a:r>
              <a:rPr lang="en-US" altLang="ru-RU" sz="2400"/>
              <a:t>.</a:t>
            </a:r>
            <a:endParaRPr lang="en-US" altLang="ru-RU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Расчёт</a:t>
            </a:r>
            <a:r>
              <a:rPr lang="en-US" altLang="ru-RU"/>
              <a:t> </a:t>
            </a:r>
            <a:r>
              <a:rPr lang="en-US" altLang="en-US"/>
              <a:t>экономической</a:t>
            </a:r>
            <a:r>
              <a:rPr lang="en-US" altLang="ru-RU"/>
              <a:t> </a:t>
            </a:r>
            <a:r>
              <a:rPr lang="en-US" altLang="en-US"/>
              <a:t>эффективности</a:t>
            </a:r>
            <a:r>
              <a:rPr lang="en-US" altLang="ru-RU"/>
              <a:t> </a:t>
            </a:r>
            <a:r>
              <a:rPr lang="en-US" altLang="en-US"/>
              <a:t>дипломного</a:t>
            </a:r>
            <a:r>
              <a:rPr lang="en-US" altLang="ru-RU"/>
              <a:t> </a:t>
            </a:r>
            <a:r>
              <a:rPr lang="en-US" altLang="en-US"/>
              <a:t>проекта</a:t>
            </a:r>
            <a:endParaRPr lang="en-US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2400"/>
              <a:t>Автоматизированная</a:t>
            </a:r>
            <a:r>
              <a:rPr lang="en-US" altLang="ru-RU" sz="2400"/>
              <a:t> </a:t>
            </a:r>
            <a:r>
              <a:rPr lang="en-US" altLang="en-US" sz="2400"/>
              <a:t>система</a:t>
            </a:r>
            <a:r>
              <a:rPr lang="en-US" altLang="ru-RU" sz="2400"/>
              <a:t> </a:t>
            </a:r>
            <a:r>
              <a:rPr lang="en-US" altLang="en-US" sz="2400"/>
              <a:t>управления</a:t>
            </a:r>
            <a:r>
              <a:rPr lang="en-US" altLang="ru-RU" sz="2400"/>
              <a:t> </a:t>
            </a:r>
            <a:r>
              <a:rPr lang="en-US" altLang="en-US" sz="2400"/>
              <a:t>информационными</a:t>
            </a:r>
            <a:r>
              <a:rPr lang="en-US" altLang="ru-RU" sz="2400"/>
              <a:t> </a:t>
            </a:r>
            <a:r>
              <a:rPr lang="en-US" altLang="en-US" sz="2400"/>
              <a:t>киосками</a:t>
            </a:r>
            <a:r>
              <a:rPr lang="en-US" altLang="ru-RU" sz="2400"/>
              <a:t> (</a:t>
            </a:r>
            <a:r>
              <a:rPr lang="en-US" altLang="en-US" sz="2400"/>
              <a:t>инфоматами</a:t>
            </a:r>
            <a:r>
              <a:rPr lang="en-US" altLang="ru-RU" sz="2400"/>
              <a:t>) </a:t>
            </a:r>
            <a:r>
              <a:rPr lang="en-US" altLang="en-US" sz="2400"/>
              <a:t>для</a:t>
            </a:r>
            <a:r>
              <a:rPr lang="en-US" altLang="ru-RU" sz="2400"/>
              <a:t> </a:t>
            </a:r>
            <a:r>
              <a:rPr lang="en-US" altLang="en-US" sz="2400"/>
              <a:t>МАОУ</a:t>
            </a:r>
            <a:r>
              <a:rPr lang="en-US" altLang="ru-RU" sz="2400"/>
              <a:t> </a:t>
            </a:r>
            <a:r>
              <a:rPr lang="en-US" altLang="en-US" sz="2400"/>
              <a:t>«</a:t>
            </a:r>
            <a:r>
              <a:rPr lang="en-US" altLang="en-US" sz="2400"/>
              <a:t>Ильинская</a:t>
            </a:r>
            <a:r>
              <a:rPr lang="en-US" altLang="ru-RU" sz="2400"/>
              <a:t> </a:t>
            </a:r>
            <a:r>
              <a:rPr lang="en-US" altLang="en-US" sz="2400"/>
              <a:t>СОШ</a:t>
            </a:r>
            <a:r>
              <a:rPr lang="en-US" altLang="en-US" sz="2400"/>
              <a:t>»</a:t>
            </a:r>
            <a:endParaRPr lang="en-US" altLang="en-US" sz="2400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41605" y="557466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Студент</a:t>
            </a:r>
            <a:r>
              <a:rPr lang="en-US" altLang="ru-RU"/>
              <a:t>: </a:t>
            </a:r>
            <a:r>
              <a:rPr lang="ru-RU" altLang="en-US"/>
              <a:t>Шаламов Сергей Андреевич</a:t>
            </a:r>
            <a:endParaRPr lang="en-US" altLang="ru-RU"/>
          </a:p>
          <a:p>
            <a:r>
              <a:rPr lang="en-US" altLang="en-US"/>
              <a:t>Группа</a:t>
            </a:r>
            <a:r>
              <a:rPr lang="en-US" altLang="ru-RU"/>
              <a:t>: </a:t>
            </a:r>
            <a:r>
              <a:rPr lang="ru-RU" altLang="en-US"/>
              <a:t>4П</a:t>
            </a:r>
            <a:endParaRPr lang="en-US" altLang="ru-RU"/>
          </a:p>
          <a:p>
            <a:r>
              <a:rPr lang="en-US" altLang="en-US"/>
              <a:t>Год</a:t>
            </a:r>
            <a:r>
              <a:rPr lang="en-US" altLang="ru-RU"/>
              <a:t>: 2026</a:t>
            </a:r>
            <a:endParaRPr lang="en-US" altLang="ru-RU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99*232"/>
  <p:tag name="TABLE_ENDDRAG_RECT" val="412*126*499*232"/>
</p:tagLst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2300</Words>
  <Application>WPS Presentation</Application>
  <PresentationFormat>宽屏</PresentationFormat>
  <Paragraphs>139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Arial</vt:lpstr>
      <vt:lpstr>SimSun</vt:lpstr>
      <vt:lpstr>Wingdings</vt:lpstr>
      <vt:lpstr>Microsoft YaHei</vt:lpstr>
      <vt:lpstr>Arial Unicode MS</vt:lpstr>
      <vt:lpstr>Business Cooperate</vt:lpstr>
      <vt:lpstr>Расчёт экономической эффективности дипломного проекта</vt:lpstr>
      <vt:lpstr>О проекте</vt:lpstr>
      <vt:lpstr>Сравнение процессов информирования</vt:lpstr>
      <vt:lpstr>Расчёт капитальных затрат</vt:lpstr>
      <vt:lpstr>Расчёт ежемесячной экономии рабочего времени</vt:lpstr>
      <vt:lpstr>Срок окупаемости проекта</vt:lpstr>
      <vt:lpstr>Заключение</vt:lpstr>
      <vt:lpstr>Расчёт экономической эффективности дипломного проекта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WhassupDogs</cp:lastModifiedBy>
  <cp:revision>5</cp:revision>
  <dcterms:created xsi:type="dcterms:W3CDTF">2025-07-23T00:59:00Z</dcterms:created>
  <dcterms:modified xsi:type="dcterms:W3CDTF">2026-04-07T00:58:07Z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35E70AD2C75643949BA57983AA158B23_11</vt:lpwstr>
  </property>
</Properties>
</file>